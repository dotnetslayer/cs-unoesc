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F3A8C-8BA8-E150-F178-541676AB4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72F8C-F46B-4CBA-1670-2246D1AF6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3E1686-C928-5E17-D920-52DCC431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75455-2637-5C79-EDFE-F0CDF3D3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37EF76-487C-8759-B63D-E1138183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18C8B-7D1B-5471-1F19-0B179C44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544DE6-52E3-2640-4C22-C9C1F13C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CF54E7-2D22-06B9-037D-3BABE196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785AA5-C084-4219-2A22-A2505C79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9F983-62A2-77E5-C4B1-499A7432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00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C7B8C-C052-A2CE-00D9-2BCC8E79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4B0A31-98EC-AAAE-11B7-3AEFF443F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88746D-9E48-3B62-A1EF-C5BA716A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C95A16-67C4-569B-555A-6E1ECA2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2748-0183-3A8D-9D24-084062B7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40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A7834-6A48-6E0C-9934-756B79EA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6DFE5D-1157-85AA-893E-6A3A0BCC6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C656F1-3317-9F6A-9836-740B3B672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2AE5E1-A054-7CD0-B67F-BF190B8A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25FA24-AAEF-71ED-F621-4B372371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FA092A-C647-60ED-4537-80A8B6FA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42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92AE5-80BA-49DF-39E7-CA2FCE30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B8BCB4-219C-1657-89D8-1FCC4290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8DB74D-D2F2-F34B-E7AA-EF7EE25E9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9B1C1E-C68A-25D3-257F-D2B959382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0A3EE5-5C2C-15DD-11DD-F21887B07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7FD1DCB-9DFA-C7F0-1CC5-1D09DA9A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C714F7-0ED4-09A0-B78C-DD9999C4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A78F37-E3E2-127B-B042-ABA00A84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39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58666-9157-8720-AB01-E4B4304A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F491E1-E3AD-2974-0BD6-102D54C8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EA4F88-4D63-ECDA-45CC-5936FC5D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3278F2-9DB4-8A64-D27C-77369E2D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29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FB32F4-E2DD-2085-25D6-80F4FB23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E5CB60-1A88-7D75-AD30-E9C84C1C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16F0AC-E105-2344-AB25-05F8ED9F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1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E07F6-525E-6E7D-41D5-CAC0726F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F9A3E7-0C64-BF43-C2EA-3EE204ECD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7C9FB6-02ED-A7BD-6582-0FB426461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2E250-5844-9C1A-F207-AF0C4E0C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16A05A-A849-9A52-4498-9A8B359F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0ABD52-7201-CD56-17BE-761C3AF0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2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78828-9365-B941-91AC-20AFB28D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7D6D8E-70E4-B25C-8B42-EA1ACC1E6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D89CE0-2CA3-81F1-8E2F-06EE476A0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5F970A-A5F8-E5AA-D7E1-2470BDEC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C537EC-22F9-17DD-83AB-C5ADB5929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39BF5D-6DCD-31FC-0709-F978EBC8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68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45E58-8BBC-F607-0D77-C1556463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88FE9A-DC44-0B75-0EE0-F25A8086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187884-1F87-D9FA-FA97-2E19F9A82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62505-F57F-1665-A053-8AF37961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52AA3F-800B-1536-1688-D94ECE89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91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1C3F9C-BC7B-9606-7AF8-5DD9B993F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BC4DAD-6551-557F-65BD-F6277ABE8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6EE5C0-CF9D-EE00-A0AC-F518378A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76D179-65F7-B565-C574-AADC7E17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8D83AC-CDA9-BB62-5ECE-FBD42E81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56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8E2478-56D1-8D2B-5F90-65F3099F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370221-B08B-6EA4-3421-998FB3EB1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E2D3F7-C2D2-2ACF-567F-868BC9CB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80BB5-8FB0-4F14-8B38-104B08B42758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1CABC-0A81-526D-1D5B-68E5A880F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113640-5887-E682-6ABF-EE85713AE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3F156-E28A-49F7-AAC2-FEDCBA55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91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onceito de gêmeo digital ou gráfico de tecnologia de aviação de microchip  com avião e elemento futurista | Vetor Premium">
            <a:extLst>
              <a:ext uri="{FF2B5EF4-FFF2-40B4-BE49-F238E27FC236}">
                <a16:creationId xmlns:a16="http://schemas.microsoft.com/office/drawing/2014/main" id="{85F1B6AF-798F-41AB-C1E7-13D3050C8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74" y="154765"/>
            <a:ext cx="10484250" cy="6548469"/>
          </a:xfrm>
          <a:prstGeom prst="rect">
            <a:avLst/>
          </a:prstGeom>
          <a:noFill/>
          <a:effectLst>
            <a:softEdge rad="406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BB2A23F-0E73-CDD3-E26D-43B7CBFC0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30542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BANCO DE DADOS</a:t>
            </a:r>
            <a:b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pt-BR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TRANSPORTE AÉREO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8A42DC-0B65-BB5C-CF7C-2DA5FC195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807" y="4854372"/>
            <a:ext cx="9966383" cy="1155684"/>
          </a:xfrm>
        </p:spPr>
        <p:txBody>
          <a:bodyPr>
            <a:normAutofit/>
          </a:bodyPr>
          <a:lstStyle/>
          <a:p>
            <a:r>
              <a:rPr lang="pt-B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Thiago Wurster Balbinot, Thiago Thomasi, Rhyan Mezaroba e Mateus Ferreira</a:t>
            </a:r>
          </a:p>
        </p:txBody>
      </p:sp>
    </p:spTree>
    <p:extLst>
      <p:ext uri="{BB962C8B-B14F-4D97-AF65-F5344CB8AC3E}">
        <p14:creationId xmlns:p14="http://schemas.microsoft.com/office/powerpoint/2010/main" val="200545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75FE9-D220-5DAD-56D6-9DB2AAC7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24" y="0"/>
            <a:ext cx="4715623" cy="1600200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chemeClr val="bg1"/>
                </a:solidFill>
              </a:rPr>
              <a:t>Tabelas Aeronave e Poltrona</a:t>
            </a:r>
            <a:endParaRPr lang="pt-BR" sz="280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94DECA-A3BA-53E7-E228-D51A6C75D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9817" y="2138972"/>
            <a:ext cx="4017843" cy="3811588"/>
          </a:xfrm>
        </p:spPr>
        <p:txBody>
          <a:bodyPr/>
          <a:lstStyle/>
          <a:p>
            <a:pPr algn="just"/>
            <a:r>
              <a:rPr lang="pt-BR" b="1">
                <a:solidFill>
                  <a:schemeClr val="bg1"/>
                </a:solidFill>
              </a:rPr>
              <a:t>AERONAVE: </a:t>
            </a:r>
            <a:r>
              <a:rPr lang="pt-BR">
                <a:solidFill>
                  <a:schemeClr val="bg1"/>
                </a:solidFill>
              </a:rPr>
              <a:t>Armazena informações de cada aeronave individualmente, com um ID, TIPO e o NÚMERO DE POLTRONAS.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 b="1">
                <a:solidFill>
                  <a:schemeClr val="bg1"/>
                </a:solidFill>
              </a:rPr>
              <a:t>POLTRONA: </a:t>
            </a:r>
            <a:r>
              <a:rPr lang="pt-BR">
                <a:solidFill>
                  <a:schemeClr val="bg1"/>
                </a:solidFill>
              </a:rPr>
              <a:t>Armazena informações referentes as  poltronas de cada aeronave individualmente. Tendo um ID de poltrona, NUMERO DE POLTRONA, LOCALIZAÇÃO, LADO e DISPONIBILIDADE, sendo relacionado com a tabela AERONAVE a partir de uma chave estrangeira ID AERONAVE.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11E208-36A8-B527-1D15-EB084286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747" y="1352489"/>
            <a:ext cx="6637715" cy="39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2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C942-EA67-5772-A150-6F4747CB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D4E39-2ED9-8634-4D3E-A4F32C33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540438"/>
            <a:ext cx="3932237" cy="897147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chemeClr val="bg1"/>
                </a:solidFill>
              </a:rPr>
              <a:t>Tabelas Aeroporto e VOO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5CDAA1-F78D-0407-9A9C-96B8C2BA4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pt-BR" b="1">
                <a:solidFill>
                  <a:schemeClr val="bg1"/>
                </a:solidFill>
              </a:rPr>
              <a:t>AEROPORTO</a:t>
            </a:r>
            <a:r>
              <a:rPr lang="pt-BR">
                <a:solidFill>
                  <a:schemeClr val="bg1"/>
                </a:solidFill>
              </a:rPr>
              <a:t>: Armazena informações sobre aeroportos, com um ID auto-incremento como chave primária e campos para nome, cidade, estado e país.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 b="1">
                <a:solidFill>
                  <a:schemeClr val="bg1"/>
                </a:solidFill>
              </a:rPr>
              <a:t>VOO: </a:t>
            </a:r>
            <a:r>
              <a:rPr lang="pt-BR">
                <a:solidFill>
                  <a:schemeClr val="bg1"/>
                </a:solidFill>
              </a:rPr>
              <a:t>Armazena informações sobre voos, também com um ID auto-incremental como chave primária, e chaves estrangeiras que referenciam a tabela AEROPORTO.</a:t>
            </a:r>
          </a:p>
          <a:p>
            <a:endParaRPr lang="pt-BR">
              <a:solidFill>
                <a:schemeClr val="bg1"/>
              </a:solidFill>
            </a:endParaRPr>
          </a:p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6EACBC-46BC-B434-E7C0-6C05B8959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880" y="1014775"/>
            <a:ext cx="6095716" cy="46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9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5885-B84D-EA6C-08DB-0F99E390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484F4-7591-7B50-3722-BBB85E6D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95555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chemeClr val="bg1"/>
                </a:solidFill>
              </a:rPr>
              <a:t>Tabelas Escala e Cliente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4C122B-796A-2606-5F8B-E9DC116A9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pt-BR" b="1">
                <a:solidFill>
                  <a:schemeClr val="bg1"/>
                </a:solidFill>
              </a:rPr>
              <a:t>ESCALA: </a:t>
            </a:r>
            <a:r>
              <a:rPr lang="pt-BR">
                <a:solidFill>
                  <a:schemeClr val="bg1"/>
                </a:solidFill>
              </a:rPr>
              <a:t>Armazena informações referente a escala de horários de um VOO, possuindo informações como horário de chegada e de saída, e referenciando tabelas de VOO e AEROPORTO a partir de seus ID’s.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 b="1">
                <a:solidFill>
                  <a:schemeClr val="bg1"/>
                </a:solidFill>
              </a:rPr>
              <a:t>CLIENTE: </a:t>
            </a:r>
            <a:r>
              <a:rPr lang="pt-BR">
                <a:solidFill>
                  <a:schemeClr val="bg1"/>
                </a:solidFill>
              </a:rPr>
              <a:t>Armazena informações referente aos clientes que irão estar nos voos e aeronaves. Nessa tabela temos ID, NOME, CPF, IDADE, SEXO (masculino ou feminino) e se o cliente é PREFERENCIAL ou não.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734553B-D51F-E31E-05C1-5F467AB9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670" y="1257300"/>
            <a:ext cx="6389242" cy="409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3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8BAE-0B30-9AFB-CD59-00DAEE50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817CC-F927-A9EA-A1A0-1516D29A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02" y="-120770"/>
            <a:ext cx="4784636" cy="1600200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</a:rPr>
              <a:t>Tabelas Voo_Poltrona e Reserva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567588-2E82-76B5-6623-2F0145562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4128" y="1746849"/>
            <a:ext cx="3932237" cy="3811588"/>
          </a:xfrm>
        </p:spPr>
        <p:txBody>
          <a:bodyPr/>
          <a:lstStyle/>
          <a:p>
            <a:pPr algn="just"/>
            <a:r>
              <a:rPr lang="pt-BR" b="1">
                <a:solidFill>
                  <a:schemeClr val="bg1"/>
                </a:solidFill>
              </a:rPr>
              <a:t>VOO_POLTRONA: </a:t>
            </a:r>
            <a:r>
              <a:rPr lang="pt-BR">
                <a:solidFill>
                  <a:schemeClr val="bg1"/>
                </a:solidFill>
              </a:rPr>
              <a:t>Armazena informações referente as poltronas de voos diferentes, não especificamente de uma única aeronave. Possui referências a chaves estrangeiras de tabelas de VOO e POLTRONA.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 b="1">
                <a:solidFill>
                  <a:schemeClr val="bg1"/>
                </a:solidFill>
              </a:rPr>
              <a:t>RESERVA: </a:t>
            </a:r>
            <a:r>
              <a:rPr lang="pt-BR">
                <a:solidFill>
                  <a:schemeClr val="bg1"/>
                </a:solidFill>
              </a:rPr>
              <a:t>Armazena informações referente as reservas que os clientes realizam nas poltronas dos voos, possuindo atributos como data de reserva e status da reserva. Possui referências nas tabelas CLIENTE e VOO_POLTRONA.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C2AD0E-87A4-CF82-3357-EFE95D60A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838" y="1400787"/>
            <a:ext cx="6793122" cy="374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2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C733-1F01-B36A-C6E3-01EF3483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40E8B-B61A-C66D-A356-63480021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06" y="457200"/>
            <a:ext cx="4414419" cy="1155940"/>
          </a:xfrm>
        </p:spPr>
        <p:txBody>
          <a:bodyPr/>
          <a:lstStyle/>
          <a:p>
            <a:pPr algn="ctr"/>
            <a:r>
              <a:rPr lang="pt-BR">
                <a:solidFill>
                  <a:schemeClr val="bg1"/>
                </a:solidFill>
              </a:rPr>
              <a:t>Criação de Trigger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BE0C98-2CF2-D548-DE3A-DD6C0764C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606" y="2143664"/>
            <a:ext cx="4414419" cy="3811588"/>
          </a:xfrm>
        </p:spPr>
        <p:txBody>
          <a:bodyPr/>
          <a:lstStyle/>
          <a:p>
            <a:pPr algn="just"/>
            <a:r>
              <a:rPr lang="pt-BR">
                <a:solidFill>
                  <a:schemeClr val="bg1"/>
                </a:solidFill>
              </a:rPr>
              <a:t>TRG_AtualizaStatusPoltronaReserva (linhas 80-88):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Quando uma reserva é feita (e inserida na tabela RESERVA), a poltrona associada a ela é marcada como "reservada“ na tabela VOO_POLTRONA.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>
                <a:solidFill>
                  <a:schemeClr val="bg1"/>
                </a:solidFill>
              </a:rPr>
              <a:t>TRG_AtualizaStatusPoltronaCancelamento (linhas 90-99):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Quando uma reserva é cancelada (mudando seu status para 'CANCELADA'), a poltrona que estava reservada é marcada como "disponível" novamente.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928D3C-D2FA-BE2D-72A2-8623A5B6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858" y="976979"/>
            <a:ext cx="6887536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5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E670-F1F3-276E-1793-F90203A0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3D6ED-1A3F-D6E0-D907-45EC68D3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828136"/>
          </a:xfrm>
        </p:spPr>
        <p:txBody>
          <a:bodyPr/>
          <a:lstStyle/>
          <a:p>
            <a:pPr algn="ctr"/>
            <a:r>
              <a:rPr lang="pt-BR">
                <a:solidFill>
                  <a:schemeClr val="bg1"/>
                </a:solidFill>
              </a:rPr>
              <a:t>Procedures: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CC6C6D-83D9-B5F9-FB75-2B2B3CEDA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>
                <a:solidFill>
                  <a:schemeClr val="bg1"/>
                </a:solidFill>
              </a:rPr>
              <a:t>CREATE PROCEDURE SP_RealizaReserva (linhas 105-129):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>
                <a:solidFill>
                  <a:schemeClr val="bg1"/>
                </a:solidFill>
              </a:rPr>
              <a:t>Propósito: Tenta realizar uma reserva para um cliente em uma poltrona de voo específica.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Parâmetros de Entrada (IN):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p_ID_CLIENTE: O ID do cliente que está fazendo a reserva.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p_ID_VOO_POLTRONA: O ID da poltrona de voo que o cliente deseja reservar.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Parâmetros de Saída (OUT):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p_ID_RESERVA: Retorna o ID da reserva recém-criada, se a reserva for bem-sucedida. Caso contrário, retorna NULL.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p_MENSAGEM: Retorna uma mensagem de sucesso ou falha para o usuário.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B12268-90CE-8C97-81D8-E9EA93E9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68" y="862642"/>
            <a:ext cx="6837487" cy="476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1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38CDB-C0DA-A07F-CCFE-1BAD7F33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0D51F-87BA-FD60-9EF1-5B0DE762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69" y="448572"/>
            <a:ext cx="3932237" cy="1104181"/>
          </a:xfrm>
        </p:spPr>
        <p:txBody>
          <a:bodyPr/>
          <a:lstStyle/>
          <a:p>
            <a:pPr algn="ctr"/>
            <a:r>
              <a:rPr lang="pt-BR">
                <a:solidFill>
                  <a:schemeClr val="bg1"/>
                </a:solidFill>
              </a:rPr>
              <a:t>Função: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8D8364-4AA2-6923-493B-2B6481217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6105" y="1798607"/>
            <a:ext cx="5086559" cy="3811588"/>
          </a:xfrm>
        </p:spPr>
        <p:txBody>
          <a:bodyPr>
            <a:normAutofit/>
          </a:bodyPr>
          <a:lstStyle/>
          <a:p>
            <a:pPr algn="just"/>
            <a:r>
              <a:rPr lang="pt-BR">
                <a:solidFill>
                  <a:schemeClr val="bg1"/>
                </a:solidFill>
              </a:rPr>
              <a:t>CREATE FUNCTION FN_CalculaDuracaoVoo(p_ID_VOO INT) (linhas 135-147):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>
                <a:solidFill>
                  <a:schemeClr val="bg1"/>
                </a:solidFill>
              </a:rPr>
              <a:t>Propósito: Calcular a duração de um voo específico em minutos.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Parâmetro de Entrada: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p_ID_VOO: O ID do voo para o qual se deseja calcular a duração.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Retorno (RETURNS INT): A função retorna um valor inteiro, que representará a duração do voo em minutos.</a:t>
            </a:r>
          </a:p>
          <a:p>
            <a:pPr algn="just"/>
            <a:r>
              <a:rPr lang="pt-BR">
                <a:solidFill>
                  <a:schemeClr val="bg1"/>
                </a:solidFill>
              </a:rPr>
              <a:t>READS SQL DATA: Indica que a função lê dados do banco de dados (mas não os modifica).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CF8729E-DBAD-42BA-35F6-6E87679D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256" y="1639019"/>
            <a:ext cx="5906946" cy="328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9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F0F2-A5EA-E0CC-E83A-7ADBC1EC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DD259-E350-9DBA-A2F7-646D0270D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76377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chemeClr val="bg1"/>
                </a:solidFill>
              </a:rPr>
              <a:t>View: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9689EB-0F78-DC47-D654-827F689A1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7645"/>
            <a:ext cx="3932237" cy="4221343"/>
          </a:xfrm>
        </p:spPr>
        <p:txBody>
          <a:bodyPr/>
          <a:lstStyle/>
          <a:p>
            <a:pPr algn="just"/>
            <a:r>
              <a:rPr lang="pt-BR">
                <a:solidFill>
                  <a:schemeClr val="bg1"/>
                </a:solidFill>
              </a:rPr>
              <a:t>Essa view seleciona informações sobre voos, aeroportos de origem e destino, e o tipo de aeronave. Além disso, ela calcula o número total de assentos na aeronave e, através de uma subconsulta, a quantidade de assentos disponíveis para cada voo.</a:t>
            </a:r>
          </a:p>
          <a:p>
            <a:pPr algn="just"/>
            <a:endParaRPr lang="pt-BR">
              <a:solidFill>
                <a:schemeClr val="bg1"/>
              </a:solidFill>
            </a:endParaRPr>
          </a:p>
          <a:p>
            <a:pPr algn="just"/>
            <a:r>
              <a:rPr lang="pt-BR">
                <a:solidFill>
                  <a:schemeClr val="bg1"/>
                </a:solidFill>
              </a:rPr>
              <a:t>Em resumo, a view combina dados de diferentes tabelas (voos, aeroportos e aeronaves) para fornecer uma visão consolidada dos voos, incluindo detalhes sobre as cidades de origem e destino, horários e a disponibilidade de assentos.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7CC2D0-32ED-4E18-5513-903812B9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188" y="974784"/>
            <a:ext cx="6985991" cy="446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4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5E5F0-CA0B-1057-103A-96AD02C30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16" y="110599"/>
            <a:ext cx="10793083" cy="1040981"/>
          </a:xfrm>
        </p:spPr>
        <p:txBody>
          <a:bodyPr/>
          <a:lstStyle/>
          <a:p>
            <a:pPr algn="ctr"/>
            <a:r>
              <a:rPr lang="pt-BR">
                <a:solidFill>
                  <a:schemeClr val="bg1"/>
                </a:solidFill>
              </a:rPr>
              <a:t>Inserts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6EF4A41-3151-9B51-9DA7-F939C88C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1" y="1151580"/>
            <a:ext cx="5171566" cy="29475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44ED7B1-E9F4-E7ED-BD2F-2063843B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17" y="4232623"/>
            <a:ext cx="4683996" cy="232584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748076B-68D0-710B-E110-F8CA8A70B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258" y="1406106"/>
            <a:ext cx="5266871" cy="35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92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5D00-A9FE-CEDD-031E-1365EBD7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4323E-E11E-AC83-1401-BDB0CA5C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17" y="188913"/>
            <a:ext cx="5348377" cy="1600200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chemeClr val="bg1"/>
                </a:solidFill>
              </a:rPr>
              <a:t>Chamamento de Procedure e Função: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0C4880-CC6D-083C-5A0E-7B087FF92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11878"/>
            <a:ext cx="3932237" cy="3557109"/>
          </a:xfrm>
        </p:spPr>
        <p:txBody>
          <a:bodyPr/>
          <a:lstStyle/>
          <a:p>
            <a:pPr algn="just"/>
            <a:r>
              <a:rPr lang="pt-BR">
                <a:solidFill>
                  <a:schemeClr val="bg1"/>
                </a:solidFill>
              </a:rPr>
              <a:t>Cada chamada tenta realizar uma reserva, passando dois valores numéricos e duas variáveis de saída: @idReserva (para armazenar o ID da reserva criada, se bem-sucedida) e @mensagemErro (para capturar qualquer mensagem de erro).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B67EE2-B387-B6B4-D283-1B7232A9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979" y="1447324"/>
            <a:ext cx="6335304" cy="37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31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0919-36C8-2B39-0E9A-8946637A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D6CC7-B228-93B0-88E3-2DE7BFEE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34937" cy="526211"/>
          </a:xfrm>
        </p:spPr>
        <p:txBody>
          <a:bodyPr>
            <a:normAutofit fontScale="90000"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Selects: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E53DD9-9023-C23D-6026-7B84E1BB5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264" y="983411"/>
            <a:ext cx="11990717" cy="3152955"/>
          </a:xfrm>
        </p:spPr>
        <p:txBody>
          <a:bodyPr>
            <a:normAutofit/>
          </a:bodyPr>
          <a:lstStyle/>
          <a:p>
            <a:pPr algn="just"/>
            <a:r>
              <a:rPr lang="pt-BR" sz="1400">
                <a:solidFill>
                  <a:schemeClr val="bg1"/>
                </a:solidFill>
              </a:rPr>
              <a:t>SELECT * FROM Vw_VoosDisponiveis;</a:t>
            </a:r>
          </a:p>
          <a:p>
            <a:pPr algn="just"/>
            <a:r>
              <a:rPr lang="pt-BR" sz="1400">
                <a:solidFill>
                  <a:schemeClr val="bg1"/>
                </a:solidFill>
              </a:rPr>
              <a:t>Esta linha seleciona todas as colunas e todas as linhas da view Vw_VoosDisponiveis. Combina informações de voos, aeroportos e aeronaves, incluindo a contagem de poltronas disponíveis. Esta consulta, portanto, mostra todos os detalhes de todos os voos disponíveis.</a:t>
            </a:r>
          </a:p>
          <a:p>
            <a:pPr algn="just"/>
            <a:endParaRPr lang="pt-BR" sz="1400">
              <a:solidFill>
                <a:schemeClr val="bg1"/>
              </a:solidFill>
            </a:endParaRPr>
          </a:p>
          <a:p>
            <a:pPr algn="just"/>
            <a:r>
              <a:rPr lang="pt-BR" sz="1400">
                <a:solidFill>
                  <a:schemeClr val="bg1"/>
                </a:solidFill>
              </a:rPr>
              <a:t>SELECT ID_VOO, Aeroporto_Origem, Cidade_Destino, HORARIO_SAIDA, Poltronas_Disponiveis FROM Vw_VoosDisponiveis WHERE Poltronas_Disponiveis &gt; 0;</a:t>
            </a:r>
          </a:p>
          <a:p>
            <a:pPr algn="just"/>
            <a:r>
              <a:rPr lang="pt-BR" sz="1400">
                <a:solidFill>
                  <a:schemeClr val="bg1"/>
                </a:solidFill>
              </a:rPr>
              <a:t>Ela seleciona apenas algumas colunas: ID_VOO, Aeroporto_Origem, Cidade_Destino, HORARIO_SAIDA e Poltronas_Disponiveis.</a:t>
            </a:r>
          </a:p>
          <a:p>
            <a:pPr algn="just"/>
            <a:r>
              <a:rPr lang="pt-BR" sz="1400">
                <a:solidFill>
                  <a:schemeClr val="bg1"/>
                </a:solidFill>
              </a:rPr>
              <a:t>Ela aplica uma condição (WHERE Poltronas_Disponiveis &gt; 0), o que significa que ela filtra os resultados para mostrar apenas os voos que têm pelo menos uma poltrona disponível.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A352C-EE88-3A95-FE6D-507E54D9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77" y="4485737"/>
            <a:ext cx="11416046" cy="116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7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6EDB-F115-993C-C958-D7954AF9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0020E9-75B2-A19A-3CD7-9994B812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012" y="0"/>
            <a:ext cx="12261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922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862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Tema do Office</vt:lpstr>
      <vt:lpstr>BANCO DE DADOS TRANSPORTE AÉREO</vt:lpstr>
      <vt:lpstr>Tabelas Aeronave e Poltrona</vt:lpstr>
      <vt:lpstr>Tabelas Aeroporto e VOO</vt:lpstr>
      <vt:lpstr>Tabelas Escala e Cliente</vt:lpstr>
      <vt:lpstr>Tabelas Voo_Poltrona e Reserva</vt:lpstr>
      <vt:lpstr>Criação de Trigger</vt:lpstr>
      <vt:lpstr>Procedures:</vt:lpstr>
      <vt:lpstr>Função:</vt:lpstr>
      <vt:lpstr>View:</vt:lpstr>
      <vt:lpstr>Inserts</vt:lpstr>
      <vt:lpstr>Chamamento de Procedure e Função:</vt:lpstr>
      <vt:lpstr>Selects: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WB</dc:creator>
  <cp:lastModifiedBy>Thiago WB</cp:lastModifiedBy>
  <cp:revision>6</cp:revision>
  <dcterms:created xsi:type="dcterms:W3CDTF">2025-06-22T16:40:04Z</dcterms:created>
  <dcterms:modified xsi:type="dcterms:W3CDTF">2025-07-01T13:22:28Z</dcterms:modified>
</cp:coreProperties>
</file>